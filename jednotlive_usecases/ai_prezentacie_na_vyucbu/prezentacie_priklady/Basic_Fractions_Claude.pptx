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2A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2011680" cy="2011680"/>
          </a:xfrm>
          <a:prstGeom prst="ellipse">
            <a:avLst/>
          </a:prstGeom>
          <a:solidFill>
            <a:srgbClr val="7B5EA7">
              <a:alpha val="45000"/>
            </a:srgbClr>
          </a:solidFill>
          <a:ln w="12700">
            <a:solidFill>
              <a:srgbClr val="7B5EA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EF6351">
              <a:alpha val="40000"/>
            </a:srgbClr>
          </a:solidFill>
          <a:ln w="12700">
            <a:solidFill>
              <a:srgbClr val="EF635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1280160" cy="1280160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64008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Fractions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 Introduction for 4th Graders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3200400" cy="475488"/>
          </a:xfrm>
          <a:prstGeom prst="roundRect">
            <a:avLst>
              <a:gd name="adj" fmla="val 4807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80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2A85"/>
                </a:solidFill>
              </a:rPr>
              <a:t>Math • Grade 4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914400" cy="9144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886200"/>
            <a:ext cx="914400" cy="9144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886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C2A85"/>
          </a:solidFill>
          <a:ln w="12700">
            <a:solidFill>
              <a:srgbClr val="4C2A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Slide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Fraction?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04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4416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shows EQUAL parts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17373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whole object or a set.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606040"/>
            <a:ext cx="5029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207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71576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sharing an apple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43000" y="31089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it into equal pieces — each piece is a fraction!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3977640"/>
            <a:ext cx="5029200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0873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</a:t>
            </a:r>
            <a:pPr indent="0" marL="0">
              <a:buNone/>
            </a:pPr>
            <a:r>
              <a:rPr lang="en-US" sz="1400" b="1" dirty="0">
                <a:solidFill>
                  <a:srgbClr val="EF6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</a:t>
            </a:r>
            <a:pPr indent="0" marL="0">
              <a:buNone/>
            </a:pPr>
            <a:r>
              <a:rPr lang="en-US" sz="14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number that names part of a whole or part of a group.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1645920" cy="1645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= one out of two equal parts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91840"/>
            <a:ext cx="2560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F6351"/>
          </a:solidFill>
          <a:ln w="12700">
            <a:solidFill>
              <a:srgbClr val="EF63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Parts of a Fraction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017520" y="1097280"/>
            <a:ext cx="3108960" cy="3474720"/>
          </a:xfrm>
          <a:prstGeom prst="rect">
            <a:avLst/>
          </a:prstGeom>
          <a:solidFill>
            <a:srgbClr val="4C2A85"/>
          </a:solidFill>
          <a:ln w="12700">
            <a:solidFill>
              <a:srgbClr val="4C2A8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280160"/>
            <a:ext cx="25603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417320"/>
            <a:ext cx="2560320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4173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number — how many parts we HAVE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0" y="1709928"/>
            <a:ext cx="292608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355080" y="2926080"/>
            <a:ext cx="2560320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926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number — total equal parts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337560"/>
            <a:ext cx="246888" cy="0"/>
          </a:xfrm>
          <a:prstGeom prst="line">
            <a:avLst/>
          </a:prstGeom>
          <a:noFill/>
          <a:ln w="31750">
            <a:solidFill>
              <a:srgbClr val="06D6A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82880" y="2926080"/>
            <a:ext cx="2560320" cy="749808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92608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BAR — means "out of" or "divided by"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0" y="3291840"/>
            <a:ext cx="29260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4C2A85">
              <a:alpha val="12000"/>
            </a:srgbClr>
          </a:solidFill>
          <a:ln w="12700">
            <a:solidFill>
              <a:srgbClr val="4C2A85">
                <a:alpha val="1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2A85"/>
                </a:solidFill>
              </a:rPr>
              <a:t>3/4 means: "3 out of 4 equal parts"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Slide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 on a Number Line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" y="2852928"/>
            <a:ext cx="475488" cy="475488"/>
          </a:xfrm>
          <a:prstGeom prst="ellipse">
            <a:avLst/>
          </a:prstGeom>
          <a:solidFill>
            <a:srgbClr val="4C2A85"/>
          </a:solidFill>
          <a:ln w="12700">
            <a:solidFill>
              <a:srgbClr val="4C2A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5488" y="34290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number line from 0 to 1.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2852928"/>
            <a:ext cx="475488" cy="475488"/>
          </a:xfrm>
          <a:prstGeom prst="ellipse">
            <a:avLst/>
          </a:prstGeom>
          <a:solidFill>
            <a:srgbClr val="EF6351"/>
          </a:solidFill>
          <a:ln w="12700">
            <a:solidFill>
              <a:srgbClr val="EF63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10128" y="34290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it into equal parts (like 4 equal parts for fourths).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44768" y="2852928"/>
            <a:ext cx="475488" cy="47548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44768" y="34290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parts from 0 — each jump is one fraction!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4370832"/>
            <a:ext cx="8412480" cy="54864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035"/>
                </a:solidFill>
              </a:rPr>
              <a:t>Example: 1/4, 2/4, and 3/4 are all between 0 and 1 on the number line.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2A85"/>
                </a:solidFill>
              </a:rPr>
              <a:t>Slide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Fractions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4C2A85"/>
          </a:solidFill>
          <a:ln w="12700">
            <a:solidFill>
              <a:srgbClr val="4C2A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Equivalent fractions are DIFFERENT fractions that name the SAME amount.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54864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6351"/>
                </a:solidFill>
              </a:rPr>
              <a:t>=   =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777240" cy="10058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28800"/>
            <a:ext cx="777240" cy="10058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777240" cy="100584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1783080" cy="1417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331720" y="4023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2A85"/>
                </a:solidFill>
              </a:rPr>
              <a:t>=</a:t>
            </a:r>
            <a:endParaRPr lang="en-US" sz="2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611880"/>
            <a:ext cx="1783080" cy="1417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663440" y="3977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Both pizzas have the same amount eaten!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777240" y="4956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6351"/>
                </a:solidFill>
              </a:rPr>
              <a:t>1/2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2834640" y="4956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6351"/>
                </a:solidFill>
              </a:rPr>
              <a:t>2/4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C2A85">
              <a:alpha val="40000"/>
            </a:srgbClr>
          </a:solidFill>
          <a:ln w="12700">
            <a:solidFill>
              <a:srgbClr val="4C2A8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EF6351">
              <a:alpha val="40000"/>
            </a:srgbClr>
          </a:solidFill>
          <a:ln w="12700">
            <a:solidFill>
              <a:srgbClr val="EF635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-365760"/>
            <a:ext cx="1280160" cy="1280160"/>
          </a:xfrm>
          <a:prstGeom prst="ellipse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Slide 6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943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3035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Practice!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274320" y="1508760"/>
            <a:ext cx="2743200" cy="2331720"/>
          </a:xfrm>
          <a:prstGeom prst="rect">
            <a:avLst/>
          </a:prstGeom>
          <a:solidFill>
            <a:srgbClr val="F8F6FF"/>
          </a:solidFill>
          <a:ln w="38100">
            <a:solidFill>
              <a:srgbClr val="4C2A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solidFill>
            <a:srgbClr val="4C2A85"/>
          </a:solidFill>
          <a:ln w="12700">
            <a:solidFill>
              <a:srgbClr val="4C2A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Identify the fraction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210312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pizza is cut into 6 equal slices. You eat 2 slices.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did you eat?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218688" y="1508760"/>
            <a:ext cx="2743200" cy="2331720"/>
          </a:xfrm>
          <a:prstGeom prst="rect">
            <a:avLst/>
          </a:prstGeom>
          <a:solidFill>
            <a:srgbClr val="F8F6FF"/>
          </a:solidFill>
          <a:ln w="38100">
            <a:solidFill>
              <a:srgbClr val="EF63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18688" y="1508760"/>
            <a:ext cx="2743200" cy="502920"/>
          </a:xfrm>
          <a:prstGeom prst="rect">
            <a:avLst/>
          </a:prstGeom>
          <a:solidFill>
            <a:srgbClr val="EF6351"/>
          </a:solidFill>
          <a:ln w="12700">
            <a:solidFill>
              <a:srgbClr val="EF63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0128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Label the parts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28416" y="210312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fraction 5/8, which number is the numerator?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denominator?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63056" y="1508760"/>
            <a:ext cx="2743200" cy="2331720"/>
          </a:xfrm>
          <a:prstGeom prst="rect">
            <a:avLst/>
          </a:prstGeom>
          <a:solidFill>
            <a:srgbClr val="F8F6FF"/>
          </a:solidFill>
          <a:ln w="38100">
            <a:solidFill>
              <a:srgbClr val="06D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63056" y="1508760"/>
            <a:ext cx="2743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4496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Find the equivalent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72784" y="210312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1/2 equivalent to 3/6?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bar model or number line to explain.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274320" y="4041648"/>
            <a:ext cx="859536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04164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name equal parts of a whole. Numerator on top, denominator on bottom. Some fractions look different but are equal!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Fractions – 4th Grade</dc:title>
  <dc:subject>PptxGenJS Presentation</dc:subject>
  <dc:creator>PptxGenJS</dc:creator>
  <cp:lastModifiedBy>PptxGenJS</cp:lastModifiedBy>
  <cp:revision>1</cp:revision>
  <dcterms:created xsi:type="dcterms:W3CDTF">2026-05-20T11:19:53Z</dcterms:created>
  <dcterms:modified xsi:type="dcterms:W3CDTF">2026-05-20T11:19:53Z</dcterms:modified>
</cp:coreProperties>
</file>